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65" r:id="rId4"/>
    <p:sldId id="264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31" autoAdjust="0"/>
  </p:normalViewPr>
  <p:slideViewPr>
    <p:cSldViewPr snapToGrid="0">
      <p:cViewPr>
        <p:scale>
          <a:sx n="75" d="100"/>
          <a:sy n="75" d="100"/>
        </p:scale>
        <p:origin x="974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DE5011-3DB6-4292-B568-62492B7DB3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6BCD78-BF89-4722-A7A2-8804731DEFFF}">
      <dgm:prSet/>
      <dgm:spPr/>
      <dgm:t>
        <a:bodyPr/>
        <a:lstStyle/>
        <a:p>
          <a:pPr>
            <a:defRPr b="1"/>
          </a:pPr>
          <a:r>
            <a:rPr lang="en-US"/>
            <a:t>Random Forest Regression Insights:</a:t>
          </a:r>
        </a:p>
      </dgm:t>
    </dgm:pt>
    <dgm:pt modelId="{715E3E6B-E65F-4954-8A22-D5B58AEBB707}" type="parTrans" cxnId="{0C6F1ABD-7044-4357-AE2D-922BB18A6765}">
      <dgm:prSet/>
      <dgm:spPr/>
      <dgm:t>
        <a:bodyPr/>
        <a:lstStyle/>
        <a:p>
          <a:endParaRPr lang="en-US"/>
        </a:p>
      </dgm:t>
    </dgm:pt>
    <dgm:pt modelId="{432548C1-BFDF-440C-9337-4C9715981250}" type="sibTrans" cxnId="{0C6F1ABD-7044-4357-AE2D-922BB18A6765}">
      <dgm:prSet/>
      <dgm:spPr/>
      <dgm:t>
        <a:bodyPr/>
        <a:lstStyle/>
        <a:p>
          <a:endParaRPr lang="en-US"/>
        </a:p>
      </dgm:t>
    </dgm:pt>
    <dgm:pt modelId="{9C85CE60-1F3C-4D3A-9D4D-2DF433BFCE27}">
      <dgm:prSet/>
      <dgm:spPr/>
      <dgm:t>
        <a:bodyPr/>
        <a:lstStyle/>
        <a:p>
          <a:r>
            <a:rPr lang="en-US"/>
            <a:t>Land Size: A foundational factor in predicting property values.</a:t>
          </a:r>
        </a:p>
      </dgm:t>
    </dgm:pt>
    <dgm:pt modelId="{6EA8DB6E-42A3-4307-9AB0-215DDC6F1CB4}" type="parTrans" cxnId="{9E2EC6C3-DA2E-46F8-B3E7-318985E285BD}">
      <dgm:prSet/>
      <dgm:spPr/>
      <dgm:t>
        <a:bodyPr/>
        <a:lstStyle/>
        <a:p>
          <a:endParaRPr lang="en-US"/>
        </a:p>
      </dgm:t>
    </dgm:pt>
    <dgm:pt modelId="{A1F772FD-80F5-45BF-B7B1-826745A1BF93}" type="sibTrans" cxnId="{9E2EC6C3-DA2E-46F8-B3E7-318985E285BD}">
      <dgm:prSet/>
      <dgm:spPr/>
      <dgm:t>
        <a:bodyPr/>
        <a:lstStyle/>
        <a:p>
          <a:endParaRPr lang="en-US"/>
        </a:p>
      </dgm:t>
    </dgm:pt>
    <dgm:pt modelId="{27DAF892-633D-48A5-BA42-0DC8FD22A477}">
      <dgm:prSet/>
      <dgm:spPr/>
      <dgm:t>
        <a:bodyPr/>
        <a:lstStyle/>
        <a:p>
          <a:r>
            <a:rPr lang="en-US"/>
            <a:t>Building Size: The physical structure that significantly impacts pricing.</a:t>
          </a:r>
        </a:p>
      </dgm:t>
    </dgm:pt>
    <dgm:pt modelId="{50F10DEE-EF83-4738-959F-5753D979A2AC}" type="parTrans" cxnId="{C0C885C3-81B7-45D5-A025-4EB9F8A4F27A}">
      <dgm:prSet/>
      <dgm:spPr/>
      <dgm:t>
        <a:bodyPr/>
        <a:lstStyle/>
        <a:p>
          <a:endParaRPr lang="en-US"/>
        </a:p>
      </dgm:t>
    </dgm:pt>
    <dgm:pt modelId="{C65E930B-13A3-479B-965D-661A5B1ED905}" type="sibTrans" cxnId="{C0C885C3-81B7-45D5-A025-4EB9F8A4F27A}">
      <dgm:prSet/>
      <dgm:spPr/>
      <dgm:t>
        <a:bodyPr/>
        <a:lstStyle/>
        <a:p>
          <a:endParaRPr lang="en-US"/>
        </a:p>
      </dgm:t>
    </dgm:pt>
    <dgm:pt modelId="{C99E71DD-92A1-4ED4-AC74-28116911DAA3}">
      <dgm:prSet/>
      <dgm:spPr/>
      <dgm:t>
        <a:bodyPr/>
        <a:lstStyle/>
        <a:p>
          <a:r>
            <a:rPr lang="en-US"/>
            <a:t>Category 'Land': The property category influencing pricing dynamics.</a:t>
          </a:r>
        </a:p>
      </dgm:t>
    </dgm:pt>
    <dgm:pt modelId="{B755A005-C6C7-4A05-8434-FC5C07F0F71B}" type="parTrans" cxnId="{817B6AA6-3A2E-4946-A1DC-053A723ABD42}">
      <dgm:prSet/>
      <dgm:spPr/>
      <dgm:t>
        <a:bodyPr/>
        <a:lstStyle/>
        <a:p>
          <a:endParaRPr lang="en-US"/>
        </a:p>
      </dgm:t>
    </dgm:pt>
    <dgm:pt modelId="{326DDE95-AB92-46D9-9183-31943E637A8C}" type="sibTrans" cxnId="{817B6AA6-3A2E-4946-A1DC-053A723ABD42}">
      <dgm:prSet/>
      <dgm:spPr/>
      <dgm:t>
        <a:bodyPr/>
        <a:lstStyle/>
        <a:p>
          <a:endParaRPr lang="en-US"/>
        </a:p>
      </dgm:t>
    </dgm:pt>
    <dgm:pt modelId="{2FA3F2B2-A213-443C-882D-95543C8B644B}">
      <dgm:prSet/>
      <dgm:spPr/>
      <dgm:t>
        <a:bodyPr/>
        <a:lstStyle/>
        <a:p>
          <a:pPr>
            <a:defRPr b="1"/>
          </a:pPr>
          <a:r>
            <a:rPr lang="en-US" b="1" i="0" dirty="0" err="1"/>
            <a:t>XGBoost</a:t>
          </a:r>
          <a:r>
            <a:rPr lang="en-US" b="1" i="0" dirty="0"/>
            <a:t>:</a:t>
          </a:r>
          <a:endParaRPr lang="en-US" dirty="0"/>
        </a:p>
      </dgm:t>
    </dgm:pt>
    <dgm:pt modelId="{B9476B3D-AEAF-4264-B672-86C9D2D148F5}" type="parTrans" cxnId="{F7AC5020-A415-4B7B-A271-A651A9609177}">
      <dgm:prSet/>
      <dgm:spPr/>
      <dgm:t>
        <a:bodyPr/>
        <a:lstStyle/>
        <a:p>
          <a:endParaRPr lang="en-US"/>
        </a:p>
      </dgm:t>
    </dgm:pt>
    <dgm:pt modelId="{CA4BAAF5-0FEA-41AC-B6F8-841408084B48}" type="sibTrans" cxnId="{F7AC5020-A415-4B7B-A271-A651A9609177}">
      <dgm:prSet/>
      <dgm:spPr/>
      <dgm:t>
        <a:bodyPr/>
        <a:lstStyle/>
        <a:p>
          <a:endParaRPr lang="en-US"/>
        </a:p>
      </dgm:t>
    </dgm:pt>
    <dgm:pt modelId="{F931FDAD-ACD9-4B20-A53C-D03FB42FA4A5}">
      <dgm:prSet/>
      <dgm:spPr/>
      <dgm:t>
        <a:bodyPr/>
        <a:lstStyle/>
        <a:p>
          <a:r>
            <a:rPr lang="en-US"/>
            <a:t>Category 'Land': Maintaining its importance across models.</a:t>
          </a:r>
        </a:p>
      </dgm:t>
    </dgm:pt>
    <dgm:pt modelId="{1CF1890F-DCF1-44F5-9F8A-2B64A2BDF4EB}" type="parTrans" cxnId="{BCB2D59F-458B-4837-9A0B-92AB657E5C08}">
      <dgm:prSet/>
      <dgm:spPr/>
      <dgm:t>
        <a:bodyPr/>
        <a:lstStyle/>
        <a:p>
          <a:endParaRPr lang="en-US"/>
        </a:p>
      </dgm:t>
    </dgm:pt>
    <dgm:pt modelId="{5A27D539-F2D4-43E6-8476-759B62373C04}" type="sibTrans" cxnId="{BCB2D59F-458B-4837-9A0B-92AB657E5C08}">
      <dgm:prSet/>
      <dgm:spPr/>
      <dgm:t>
        <a:bodyPr/>
        <a:lstStyle/>
        <a:p>
          <a:endParaRPr lang="en-US"/>
        </a:p>
      </dgm:t>
    </dgm:pt>
    <dgm:pt modelId="{BD3CBA66-FBE9-4523-8FFB-E6F1C1C81464}">
      <dgm:prSet/>
      <dgm:spPr/>
      <dgm:t>
        <a:bodyPr/>
        <a:lstStyle/>
        <a:p>
          <a:r>
            <a:rPr lang="en-US"/>
            <a:t>Category 'Commercial': A key category impacting property prices.</a:t>
          </a:r>
        </a:p>
      </dgm:t>
    </dgm:pt>
    <dgm:pt modelId="{B9A178F2-FC65-4972-9A04-A9D388232FCA}" type="parTrans" cxnId="{A2C89E48-DCA8-4A4C-9454-1E79FDBDF11E}">
      <dgm:prSet/>
      <dgm:spPr/>
      <dgm:t>
        <a:bodyPr/>
        <a:lstStyle/>
        <a:p>
          <a:endParaRPr lang="en-US"/>
        </a:p>
      </dgm:t>
    </dgm:pt>
    <dgm:pt modelId="{571B5679-1552-43C5-B4E3-481ADE1739B3}" type="sibTrans" cxnId="{A2C89E48-DCA8-4A4C-9454-1E79FDBDF11E}">
      <dgm:prSet/>
      <dgm:spPr/>
      <dgm:t>
        <a:bodyPr/>
        <a:lstStyle/>
        <a:p>
          <a:endParaRPr lang="en-US"/>
        </a:p>
      </dgm:t>
    </dgm:pt>
    <dgm:pt modelId="{F74AF963-A1BA-4141-9B89-362CF417799D}">
      <dgm:prSet/>
      <dgm:spPr/>
      <dgm:t>
        <a:bodyPr/>
        <a:lstStyle/>
        <a:p>
          <a:r>
            <a:rPr lang="en-US"/>
            <a:t>Building Size: Continues to play a crucial role in valuation.</a:t>
          </a:r>
        </a:p>
      </dgm:t>
    </dgm:pt>
    <dgm:pt modelId="{0DF002A8-6720-49D4-AA00-30B20469EEA5}" type="parTrans" cxnId="{710F16A8-8460-4C8E-BA66-0BD74439C59F}">
      <dgm:prSet/>
      <dgm:spPr/>
      <dgm:t>
        <a:bodyPr/>
        <a:lstStyle/>
        <a:p>
          <a:endParaRPr lang="en-US"/>
        </a:p>
      </dgm:t>
    </dgm:pt>
    <dgm:pt modelId="{6CFE3D23-E38F-4426-B46C-714FB032E7F0}" type="sibTrans" cxnId="{710F16A8-8460-4C8E-BA66-0BD74439C59F}">
      <dgm:prSet/>
      <dgm:spPr/>
      <dgm:t>
        <a:bodyPr/>
        <a:lstStyle/>
        <a:p>
          <a:endParaRPr lang="en-US"/>
        </a:p>
      </dgm:t>
    </dgm:pt>
    <dgm:pt modelId="{C78A68B5-6057-461D-A1F8-211377C3EB7A}" type="pres">
      <dgm:prSet presAssocID="{23DE5011-3DB6-4292-B568-62492B7DB315}" presName="linear" presStyleCnt="0">
        <dgm:presLayoutVars>
          <dgm:animLvl val="lvl"/>
          <dgm:resizeHandles val="exact"/>
        </dgm:presLayoutVars>
      </dgm:prSet>
      <dgm:spPr/>
    </dgm:pt>
    <dgm:pt modelId="{AC07226F-05F6-4E18-8939-093E5E8A60CA}" type="pres">
      <dgm:prSet presAssocID="{576BCD78-BF89-4722-A7A2-8804731DEF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270D63A-B80B-40E6-938F-F3358B49EE96}" type="pres">
      <dgm:prSet presAssocID="{576BCD78-BF89-4722-A7A2-8804731DEFFF}" presName="childText" presStyleLbl="revTx" presStyleIdx="0" presStyleCnt="2">
        <dgm:presLayoutVars>
          <dgm:bulletEnabled val="1"/>
        </dgm:presLayoutVars>
      </dgm:prSet>
      <dgm:spPr/>
    </dgm:pt>
    <dgm:pt modelId="{B5084C52-6F5D-4DB0-883A-42980949149B}" type="pres">
      <dgm:prSet presAssocID="{2FA3F2B2-A213-443C-882D-95543C8B64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CDE3164-1C30-4437-BDD8-2067DD90B1CE}" type="pres">
      <dgm:prSet presAssocID="{2FA3F2B2-A213-443C-882D-95543C8B644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7AC5020-A415-4B7B-A271-A651A9609177}" srcId="{23DE5011-3DB6-4292-B568-62492B7DB315}" destId="{2FA3F2B2-A213-443C-882D-95543C8B644B}" srcOrd="1" destOrd="0" parTransId="{B9476B3D-AEAF-4264-B672-86C9D2D148F5}" sibTransId="{CA4BAAF5-0FEA-41AC-B6F8-841408084B48}"/>
    <dgm:cxn modelId="{E8A1C162-9C60-4107-BE69-9F69E4921158}" type="presOf" srcId="{27DAF892-633D-48A5-BA42-0DC8FD22A477}" destId="{1270D63A-B80B-40E6-938F-F3358B49EE96}" srcOrd="0" destOrd="1" presId="urn:microsoft.com/office/officeart/2005/8/layout/vList2"/>
    <dgm:cxn modelId="{A2C89E48-DCA8-4A4C-9454-1E79FDBDF11E}" srcId="{2FA3F2B2-A213-443C-882D-95543C8B644B}" destId="{BD3CBA66-FBE9-4523-8FFB-E6F1C1C81464}" srcOrd="1" destOrd="0" parTransId="{B9A178F2-FC65-4972-9A04-A9D388232FCA}" sibTransId="{571B5679-1552-43C5-B4E3-481ADE1739B3}"/>
    <dgm:cxn modelId="{5C4CB44A-575B-4AE7-B767-6446E693C964}" type="presOf" srcId="{F74AF963-A1BA-4141-9B89-362CF417799D}" destId="{1CDE3164-1C30-4437-BDD8-2067DD90B1CE}" srcOrd="0" destOrd="2" presId="urn:microsoft.com/office/officeart/2005/8/layout/vList2"/>
    <dgm:cxn modelId="{870D8F55-E918-4832-9EC7-350840AB3BFC}" type="presOf" srcId="{F931FDAD-ACD9-4B20-A53C-D03FB42FA4A5}" destId="{1CDE3164-1C30-4437-BDD8-2067DD90B1CE}" srcOrd="0" destOrd="0" presId="urn:microsoft.com/office/officeart/2005/8/layout/vList2"/>
    <dgm:cxn modelId="{297B9E57-9DA1-4AB0-9F67-0F27FA878109}" type="presOf" srcId="{9C85CE60-1F3C-4D3A-9D4D-2DF433BFCE27}" destId="{1270D63A-B80B-40E6-938F-F3358B49EE96}" srcOrd="0" destOrd="0" presId="urn:microsoft.com/office/officeart/2005/8/layout/vList2"/>
    <dgm:cxn modelId="{5B897D87-E3C1-4FC6-A880-59FF71E99919}" type="presOf" srcId="{C99E71DD-92A1-4ED4-AC74-28116911DAA3}" destId="{1270D63A-B80B-40E6-938F-F3358B49EE96}" srcOrd="0" destOrd="2" presId="urn:microsoft.com/office/officeart/2005/8/layout/vList2"/>
    <dgm:cxn modelId="{DBB46B8A-5EB6-4BD9-AF2C-84CDCE7B4F1F}" type="presOf" srcId="{576BCD78-BF89-4722-A7A2-8804731DEFFF}" destId="{AC07226F-05F6-4E18-8939-093E5E8A60CA}" srcOrd="0" destOrd="0" presId="urn:microsoft.com/office/officeart/2005/8/layout/vList2"/>
    <dgm:cxn modelId="{BCB2D59F-458B-4837-9A0B-92AB657E5C08}" srcId="{2FA3F2B2-A213-443C-882D-95543C8B644B}" destId="{F931FDAD-ACD9-4B20-A53C-D03FB42FA4A5}" srcOrd="0" destOrd="0" parTransId="{1CF1890F-DCF1-44F5-9F8A-2B64A2BDF4EB}" sibTransId="{5A27D539-F2D4-43E6-8476-759B62373C04}"/>
    <dgm:cxn modelId="{817B6AA6-3A2E-4946-A1DC-053A723ABD42}" srcId="{576BCD78-BF89-4722-A7A2-8804731DEFFF}" destId="{C99E71DD-92A1-4ED4-AC74-28116911DAA3}" srcOrd="2" destOrd="0" parTransId="{B755A005-C6C7-4A05-8434-FC5C07F0F71B}" sibTransId="{326DDE95-AB92-46D9-9183-31943E637A8C}"/>
    <dgm:cxn modelId="{710F16A8-8460-4C8E-BA66-0BD74439C59F}" srcId="{2FA3F2B2-A213-443C-882D-95543C8B644B}" destId="{F74AF963-A1BA-4141-9B89-362CF417799D}" srcOrd="2" destOrd="0" parTransId="{0DF002A8-6720-49D4-AA00-30B20469EEA5}" sibTransId="{6CFE3D23-E38F-4426-B46C-714FB032E7F0}"/>
    <dgm:cxn modelId="{0C6F1ABD-7044-4357-AE2D-922BB18A6765}" srcId="{23DE5011-3DB6-4292-B568-62492B7DB315}" destId="{576BCD78-BF89-4722-A7A2-8804731DEFFF}" srcOrd="0" destOrd="0" parTransId="{715E3E6B-E65F-4954-8A22-D5B58AEBB707}" sibTransId="{432548C1-BFDF-440C-9337-4C9715981250}"/>
    <dgm:cxn modelId="{C0C885C3-81B7-45D5-A025-4EB9F8A4F27A}" srcId="{576BCD78-BF89-4722-A7A2-8804731DEFFF}" destId="{27DAF892-633D-48A5-BA42-0DC8FD22A477}" srcOrd="1" destOrd="0" parTransId="{50F10DEE-EF83-4738-959F-5753D979A2AC}" sibTransId="{C65E930B-13A3-479B-965D-661A5B1ED905}"/>
    <dgm:cxn modelId="{9E2EC6C3-DA2E-46F8-B3E7-318985E285BD}" srcId="{576BCD78-BF89-4722-A7A2-8804731DEFFF}" destId="{9C85CE60-1F3C-4D3A-9D4D-2DF433BFCE27}" srcOrd="0" destOrd="0" parTransId="{6EA8DB6E-42A3-4307-9AB0-215DDC6F1CB4}" sibTransId="{A1F772FD-80F5-45BF-B7B1-826745A1BF93}"/>
    <dgm:cxn modelId="{00A876D6-DDA1-47E5-A1C4-FA4A0E18BD63}" type="presOf" srcId="{23DE5011-3DB6-4292-B568-62492B7DB315}" destId="{C78A68B5-6057-461D-A1F8-211377C3EB7A}" srcOrd="0" destOrd="0" presId="urn:microsoft.com/office/officeart/2005/8/layout/vList2"/>
    <dgm:cxn modelId="{9116F9ED-31EC-41F6-971E-B21723B4FA27}" type="presOf" srcId="{BD3CBA66-FBE9-4523-8FFB-E6F1C1C81464}" destId="{1CDE3164-1C30-4437-BDD8-2067DD90B1CE}" srcOrd="0" destOrd="1" presId="urn:microsoft.com/office/officeart/2005/8/layout/vList2"/>
    <dgm:cxn modelId="{964028F1-6BB1-4859-8072-267DCDC269D0}" type="presOf" srcId="{2FA3F2B2-A213-443C-882D-95543C8B644B}" destId="{B5084C52-6F5D-4DB0-883A-42980949149B}" srcOrd="0" destOrd="0" presId="urn:microsoft.com/office/officeart/2005/8/layout/vList2"/>
    <dgm:cxn modelId="{25D1C86D-E597-4F2B-8B86-2E2AD085F88B}" type="presParOf" srcId="{C78A68B5-6057-461D-A1F8-211377C3EB7A}" destId="{AC07226F-05F6-4E18-8939-093E5E8A60CA}" srcOrd="0" destOrd="0" presId="urn:microsoft.com/office/officeart/2005/8/layout/vList2"/>
    <dgm:cxn modelId="{FEF013FB-5BF1-42A3-A7BC-65146984C3FE}" type="presParOf" srcId="{C78A68B5-6057-461D-A1F8-211377C3EB7A}" destId="{1270D63A-B80B-40E6-938F-F3358B49EE96}" srcOrd="1" destOrd="0" presId="urn:microsoft.com/office/officeart/2005/8/layout/vList2"/>
    <dgm:cxn modelId="{8388A6BA-0261-4EE2-8F0A-1993D983EF06}" type="presParOf" srcId="{C78A68B5-6057-461D-A1F8-211377C3EB7A}" destId="{B5084C52-6F5D-4DB0-883A-42980949149B}" srcOrd="2" destOrd="0" presId="urn:microsoft.com/office/officeart/2005/8/layout/vList2"/>
    <dgm:cxn modelId="{2BB621F8-8683-4485-B72D-4A2D0B5C7F6D}" type="presParOf" srcId="{C78A68B5-6057-461D-A1F8-211377C3EB7A}" destId="{1CDE3164-1C30-4437-BDD8-2067DD90B1C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7226F-05F6-4E18-8939-093E5E8A60CA}">
      <dsp:nvSpPr>
        <dsp:cNvPr id="0" name=""/>
        <dsp:cNvSpPr/>
      </dsp:nvSpPr>
      <dsp:spPr>
        <a:xfrm>
          <a:off x="0" y="13875"/>
          <a:ext cx="6609313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Random Forest Regression Insights:</a:t>
          </a:r>
        </a:p>
      </dsp:txBody>
      <dsp:txXfrm>
        <a:off x="29271" y="43146"/>
        <a:ext cx="6550771" cy="541083"/>
      </dsp:txXfrm>
    </dsp:sp>
    <dsp:sp modelId="{1270D63A-B80B-40E6-938F-F3358B49EE96}">
      <dsp:nvSpPr>
        <dsp:cNvPr id="0" name=""/>
        <dsp:cNvSpPr/>
      </dsp:nvSpPr>
      <dsp:spPr>
        <a:xfrm>
          <a:off x="0" y="613500"/>
          <a:ext cx="6609313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846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Land Size: A foundational factor in predicting property values.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Building Size: The physical structure that significantly impacts pricing.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Category 'Land': The property category influencing pricing dynamics.</a:t>
          </a:r>
        </a:p>
      </dsp:txBody>
      <dsp:txXfrm>
        <a:off x="0" y="613500"/>
        <a:ext cx="6609313" cy="1863000"/>
      </dsp:txXfrm>
    </dsp:sp>
    <dsp:sp modelId="{B5084C52-6F5D-4DB0-883A-42980949149B}">
      <dsp:nvSpPr>
        <dsp:cNvPr id="0" name=""/>
        <dsp:cNvSpPr/>
      </dsp:nvSpPr>
      <dsp:spPr>
        <a:xfrm>
          <a:off x="0" y="2476500"/>
          <a:ext cx="6609313" cy="599625"/>
        </a:xfrm>
        <a:prstGeom prst="roundRect">
          <a:avLst/>
        </a:prstGeom>
        <a:solidFill>
          <a:schemeClr val="accent2">
            <a:hueOff val="3009786"/>
            <a:satOff val="-8270"/>
            <a:lumOff val="-10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b="1" i="0" kern="1200" dirty="0" err="1"/>
            <a:t>XGBoost</a:t>
          </a:r>
          <a:r>
            <a:rPr lang="en-US" sz="2500" b="1" i="0" kern="1200" dirty="0"/>
            <a:t>:</a:t>
          </a:r>
          <a:endParaRPr lang="en-US" sz="2500" kern="1200" dirty="0"/>
        </a:p>
      </dsp:txBody>
      <dsp:txXfrm>
        <a:off x="29271" y="2505771"/>
        <a:ext cx="6550771" cy="541083"/>
      </dsp:txXfrm>
    </dsp:sp>
    <dsp:sp modelId="{1CDE3164-1C30-4437-BDD8-2067DD90B1CE}">
      <dsp:nvSpPr>
        <dsp:cNvPr id="0" name=""/>
        <dsp:cNvSpPr/>
      </dsp:nvSpPr>
      <dsp:spPr>
        <a:xfrm>
          <a:off x="0" y="3076125"/>
          <a:ext cx="6609313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846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Category 'Land': Maintaining its importance across models.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Category 'Commercial': A key category impacting property prices.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Building Size: Continues to play a crucial role in valuation.</a:t>
          </a:r>
        </a:p>
      </dsp:txBody>
      <dsp:txXfrm>
        <a:off x="0" y="3076125"/>
        <a:ext cx="6609313" cy="186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74245-AA0F-4557-939A-A49F4973D8BC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2271C-C89A-4434-838C-E3C33C4E88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F1"/>
                </a:solidFill>
                <a:effectLst/>
                <a:latin typeface="Söhne"/>
              </a:rPr>
              <a:t>A dynamic initiative aimed at transforming the way we comprehend and predict house prices in the Philippines.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2271C-C89A-4434-838C-E3C33C4E88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48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F1"/>
                </a:solidFill>
                <a:effectLst/>
                <a:latin typeface="Söhne"/>
              </a:rPr>
              <a:t>Understanding these key features is the key to making strategic decisions in the dynamic real estate market of the Philippines.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2271C-C89A-4434-838C-E3C33C4E88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98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2271C-C89A-4434-838C-E3C33C4E88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0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15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5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9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73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3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2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5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9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1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3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11/17/2023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73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E3B669-D0C6-43C4-9D0E-ED152B12D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Time Laps Of A Bazaar">
            <a:extLst>
              <a:ext uri="{FF2B5EF4-FFF2-40B4-BE49-F238E27FC236}">
                <a16:creationId xmlns:a16="http://schemas.microsoft.com/office/drawing/2014/main" id="{EABA8478-955B-C739-934A-F91A614E2E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1" b="285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6D1572E-35F2-4C21-AA69-B57A24824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149662"/>
            <a:ext cx="12192000" cy="1708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A3B27-0C25-DCC0-26C2-F4AE512F6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348" y="5422789"/>
            <a:ext cx="8948048" cy="706641"/>
          </a:xfrm>
        </p:spPr>
        <p:txBody>
          <a:bodyPr anchor="b">
            <a:normAutofit/>
          </a:bodyPr>
          <a:lstStyle/>
          <a:p>
            <a:r>
              <a:rPr lang="en-US" sz="2800" b="1" i="0" dirty="0">
                <a:effectLst/>
                <a:latin typeface="Söhne"/>
              </a:rPr>
              <a:t>Real Estate Market Predictive Analysis in the Philippines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9F67E-FAFE-44FE-D52D-0416E9B1B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348" y="6165748"/>
            <a:ext cx="8353856" cy="365125"/>
          </a:xfrm>
        </p:spPr>
        <p:txBody>
          <a:bodyPr anchor="t">
            <a:normAutofit/>
          </a:bodyPr>
          <a:lstStyle/>
          <a:p>
            <a:r>
              <a:rPr lang="en-US" sz="1600" dirty="0"/>
              <a:t>Elloso, Lance Asher M.</a:t>
            </a:r>
          </a:p>
        </p:txBody>
      </p:sp>
    </p:spTree>
    <p:extLst>
      <p:ext uri="{BB962C8B-B14F-4D97-AF65-F5344CB8AC3E}">
        <p14:creationId xmlns:p14="http://schemas.microsoft.com/office/powerpoint/2010/main" val="1969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8CF55-8212-FC62-0B02-78000D64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5"/>
            <a:ext cx="4855352" cy="1507375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B3B9-23C7-D29D-9204-4DD34AF7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427316"/>
            <a:ext cx="4855352" cy="3513514"/>
          </a:xfrm>
        </p:spPr>
        <p:txBody>
          <a:bodyPr>
            <a:normAutofit/>
          </a:bodyPr>
          <a:lstStyle/>
          <a:p>
            <a:r>
              <a:rPr lang="en-US" dirty="0"/>
              <a:t>The inconsistent nature of house price fluctuations makes it difficult for individuals and entities to make informed decisions regarding property transactions.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7" descr="Four wooden houses with different sizes">
            <a:extLst>
              <a:ext uri="{FF2B5EF4-FFF2-40B4-BE49-F238E27FC236}">
                <a16:creationId xmlns:a16="http://schemas.microsoft.com/office/drawing/2014/main" id="{4EB5B591-4627-FC1E-49A5-33F95170E8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387" r="18797" b="1"/>
          <a:stretch/>
        </p:blipFill>
        <p:spPr>
          <a:xfrm>
            <a:off x="6967018" y="10"/>
            <a:ext cx="5224982" cy="6863174"/>
          </a:xfrm>
          <a:custGeom>
            <a:avLst/>
            <a:gdLst/>
            <a:ahLst/>
            <a:cxnLst/>
            <a:rect l="l" t="t" r="r" b="b"/>
            <a:pathLst>
              <a:path w="5224982" h="6846790">
                <a:moveTo>
                  <a:pt x="0" y="0"/>
                </a:moveTo>
                <a:lnTo>
                  <a:pt x="5224981" y="0"/>
                </a:lnTo>
                <a:lnTo>
                  <a:pt x="5224981" y="3414038"/>
                </a:lnTo>
                <a:lnTo>
                  <a:pt x="5224982" y="3414038"/>
                </a:lnTo>
                <a:lnTo>
                  <a:pt x="5224981" y="3414080"/>
                </a:lnTo>
                <a:lnTo>
                  <a:pt x="5224981" y="3430264"/>
                </a:lnTo>
                <a:lnTo>
                  <a:pt x="5224578" y="3430264"/>
                </a:lnTo>
                <a:lnTo>
                  <a:pt x="5220721" y="3585201"/>
                </a:lnTo>
                <a:cubicBezTo>
                  <a:pt x="5132997" y="5343007"/>
                  <a:pt x="3701516" y="6753257"/>
                  <a:pt x="1915780" y="6842324"/>
                </a:cubicBezTo>
                <a:lnTo>
                  <a:pt x="1743766" y="6846603"/>
                </a:lnTo>
                <a:lnTo>
                  <a:pt x="1743766" y="6846788"/>
                </a:lnTo>
                <a:lnTo>
                  <a:pt x="1736330" y="6846788"/>
                </a:lnTo>
                <a:lnTo>
                  <a:pt x="1736250" y="6846790"/>
                </a:lnTo>
                <a:lnTo>
                  <a:pt x="1736250" y="6846788"/>
                </a:lnTo>
                <a:lnTo>
                  <a:pt x="0" y="68467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795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79F239-4923-555A-99B9-9FE85F29E2EE}"/>
              </a:ext>
            </a:extLst>
          </p:cNvPr>
          <p:cNvSpPr txBox="1">
            <a:spLocks/>
          </p:cNvSpPr>
          <p:nvPr/>
        </p:nvSpPr>
        <p:spPr>
          <a:xfrm>
            <a:off x="1077364" y="720435"/>
            <a:ext cx="4140096" cy="15073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30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Solution: Market Analysis + Advanced Predictive Models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68373F-3726-11D7-5999-D04D444FDCA1}"/>
              </a:ext>
            </a:extLst>
          </p:cNvPr>
          <p:cNvSpPr txBox="1">
            <a:spLocks/>
          </p:cNvSpPr>
          <p:nvPr/>
        </p:nvSpPr>
        <p:spPr>
          <a:xfrm>
            <a:off x="1077364" y="2427316"/>
            <a:ext cx="4140096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Solution? Advanced predictive models - Random Forest Regression and XGBoost! These models provide stakeholders in the local housing market with an additional tool for making well-informed decisions.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A map of the world with different colored dots&#10;&#10;Description automatically generated">
            <a:extLst>
              <a:ext uri="{FF2B5EF4-FFF2-40B4-BE49-F238E27FC236}">
                <a16:creationId xmlns:a16="http://schemas.microsoft.com/office/drawing/2014/main" id="{848178F3-09C1-D72F-C2EC-7D3F00B42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464" y="1136276"/>
            <a:ext cx="5181936" cy="42621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003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B4852-DCF6-6CB7-7793-4222E661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Price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FCD4-DD66-FACA-9C20-E95DCD272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/>
              <a:t>The distribution of property prices. Understanding this dynamic landscape is crucial for navigating the diverse real estate market in the Philippines.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/>
          </a:p>
          <a:p>
            <a:pPr>
              <a:lnSpc>
                <a:spcPct val="110000"/>
              </a:lnSpc>
            </a:pPr>
            <a:r>
              <a:rPr lang="en-US" sz="1400"/>
              <a:t>Visualizing the Distribution: A graphical representation of the spread of property prices.</a:t>
            </a:r>
          </a:p>
          <a:p>
            <a:pPr>
              <a:lnSpc>
                <a:spcPct val="110000"/>
              </a:lnSpc>
            </a:pPr>
            <a:r>
              <a:rPr lang="en-US" sz="1400"/>
              <a:t>Price Ranges: Identifying clusters and trends within different price ranges.</a:t>
            </a:r>
          </a:p>
          <a:p>
            <a:pPr>
              <a:lnSpc>
                <a:spcPct val="110000"/>
              </a:lnSpc>
            </a:pPr>
            <a:r>
              <a:rPr lang="en-US" sz="1400"/>
              <a:t>Market Dynamics: Insights into the diversity and range of property values.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E94C488F-A40B-4734-83FB-A35E8BCA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240" y="1564474"/>
            <a:ext cx="5943600" cy="3810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855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D4842243-8D8F-4D37-8FC3-09A660E7A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B5E4A-4743-737A-36C8-6F280BDF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48" y="2104466"/>
            <a:ext cx="2318028" cy="3213846"/>
          </a:xfrm>
        </p:spPr>
        <p:txBody>
          <a:bodyPr anchor="b">
            <a:normAutofit/>
          </a:bodyPr>
          <a:lstStyle/>
          <a:p>
            <a:r>
              <a:rPr lang="en-US" sz="2400"/>
              <a:t>Key Influencers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F53E3-0DDC-4270-9698-6F5D6834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4074" y="0"/>
            <a:ext cx="8707926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22CC22-3E5E-E95B-BA01-7100A1EA4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994722"/>
              </p:ext>
            </p:extLst>
          </p:nvPr>
        </p:nvGraphicFramePr>
        <p:xfrm>
          <a:off x="4505325" y="942975"/>
          <a:ext cx="6609313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914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9CCDB-B0D2-2B09-1BAB-13E4F81F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5"/>
            <a:ext cx="4855352" cy="1507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/>
              <a:t>Accomplishment: R2 Scores &amp;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BEF3D-17EA-7903-0B95-1E47CA577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427316"/>
            <a:ext cx="4855352" cy="3513514"/>
          </a:xfrm>
        </p:spPr>
        <p:txBody>
          <a:bodyPr>
            <a:normAutofit/>
          </a:bodyPr>
          <a:lstStyle/>
          <a:p>
            <a:r>
              <a:rPr lang="en-US" dirty="0"/>
              <a:t>Both models achieved R2 scores just beyond 0.50, showcasing their efficacy in capturing the complexities of the market. A significant leap in real estate analysis within the Philippines!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95B2A79-D54F-5293-8C3A-32BAB5CF28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19"/>
          <a:stretch/>
        </p:blipFill>
        <p:spPr bwMode="auto">
          <a:xfrm>
            <a:off x="731358" y="4739935"/>
            <a:ext cx="5547360" cy="14141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graph of different colored rectangular shapes&#10;&#10;Description automatically generated with medium confidence">
            <a:extLst>
              <a:ext uri="{FF2B5EF4-FFF2-40B4-BE49-F238E27FC236}">
                <a16:creationId xmlns:a16="http://schemas.microsoft.com/office/drawing/2014/main" id="{06C23494-EE6D-0062-3787-27E62B0FC4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1" y="2150463"/>
            <a:ext cx="5652360" cy="4707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861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C083A-7DFB-EA40-2998-B394FBD87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5"/>
            <a:ext cx="4855352" cy="1507375"/>
          </a:xfrm>
        </p:spPr>
        <p:txBody>
          <a:bodyPr>
            <a:normAutofit/>
          </a:bodyPr>
          <a:lstStyle/>
          <a:p>
            <a:r>
              <a:rPr lang="en-US" dirty="0"/>
              <a:t>Insight: The Pivotal Role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DE78-F10D-7073-C4E4-0BA3455B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427316"/>
            <a:ext cx="4855352" cy="3513514"/>
          </a:xfrm>
        </p:spPr>
        <p:txBody>
          <a:bodyPr>
            <a:normAutofit/>
          </a:bodyPr>
          <a:lstStyle/>
          <a:p>
            <a:r>
              <a:rPr lang="en-US" dirty="0"/>
              <a:t>The pivotal role of data is apparent. For future endeavors, we recommend enhancing data collection, incorporating timestamps for continuous monitoring of housing price trends.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Figures of houses in different position and sizes">
            <a:extLst>
              <a:ext uri="{FF2B5EF4-FFF2-40B4-BE49-F238E27FC236}">
                <a16:creationId xmlns:a16="http://schemas.microsoft.com/office/drawing/2014/main" id="{619AE1D2-F0AD-D300-887C-BD47FDE0D2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41" r="37335"/>
          <a:stretch/>
        </p:blipFill>
        <p:spPr>
          <a:xfrm>
            <a:off x="6967018" y="10"/>
            <a:ext cx="5224982" cy="6863174"/>
          </a:xfrm>
          <a:custGeom>
            <a:avLst/>
            <a:gdLst/>
            <a:ahLst/>
            <a:cxnLst/>
            <a:rect l="l" t="t" r="r" b="b"/>
            <a:pathLst>
              <a:path w="5224982" h="6846790">
                <a:moveTo>
                  <a:pt x="0" y="0"/>
                </a:moveTo>
                <a:lnTo>
                  <a:pt x="5224981" y="0"/>
                </a:lnTo>
                <a:lnTo>
                  <a:pt x="5224981" y="3414038"/>
                </a:lnTo>
                <a:lnTo>
                  <a:pt x="5224982" y="3414038"/>
                </a:lnTo>
                <a:lnTo>
                  <a:pt x="5224981" y="3414080"/>
                </a:lnTo>
                <a:lnTo>
                  <a:pt x="5224981" y="3430264"/>
                </a:lnTo>
                <a:lnTo>
                  <a:pt x="5224578" y="3430264"/>
                </a:lnTo>
                <a:lnTo>
                  <a:pt x="5220721" y="3585201"/>
                </a:lnTo>
                <a:cubicBezTo>
                  <a:pt x="5132997" y="5343007"/>
                  <a:pt x="3701516" y="6753257"/>
                  <a:pt x="1915780" y="6842324"/>
                </a:cubicBezTo>
                <a:lnTo>
                  <a:pt x="1743766" y="6846603"/>
                </a:lnTo>
                <a:lnTo>
                  <a:pt x="1743766" y="6846788"/>
                </a:lnTo>
                <a:lnTo>
                  <a:pt x="1736330" y="6846788"/>
                </a:lnTo>
                <a:lnTo>
                  <a:pt x="1736250" y="6846790"/>
                </a:lnTo>
                <a:lnTo>
                  <a:pt x="1736250" y="6846788"/>
                </a:lnTo>
                <a:lnTo>
                  <a:pt x="0" y="68467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2560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E01E5-884A-667C-EB64-F636CAB4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dirty="0"/>
              <a:t>Future Vision: Application of Advanced Analytical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69B7-E610-11AB-C9DB-AA4C6BC9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r>
              <a:rPr lang="en-US" dirty="0"/>
              <a:t>This approach enables the application of more advanced analytical techniques, improving the efficacy of machine learning models and resulting in enhanced outcomes.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FAD149CD-670A-5ED7-B8F5-E26498AC3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64" y="1034569"/>
            <a:ext cx="4788861" cy="47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19615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RegularSeed_2SEEDS">
      <a:dk1>
        <a:srgbClr val="000000"/>
      </a:dk1>
      <a:lt1>
        <a:srgbClr val="FFFFFF"/>
      </a:lt1>
      <a:dk2>
        <a:srgbClr val="1C2031"/>
      </a:dk2>
      <a:lt2>
        <a:srgbClr val="F0F2F3"/>
      </a:lt2>
      <a:accent1>
        <a:srgbClr val="C0802C"/>
      </a:accent1>
      <a:accent2>
        <a:srgbClr val="D2553E"/>
      </a:accent2>
      <a:accent3>
        <a:srgbClr val="A7A632"/>
      </a:accent3>
      <a:accent4>
        <a:srgbClr val="2C90C0"/>
      </a:accent4>
      <a:accent5>
        <a:srgbClr val="3E64D2"/>
      </a:accent5>
      <a:accent6>
        <a:srgbClr val="4E38C3"/>
      </a:accent6>
      <a:hlink>
        <a:srgbClr val="3F76BF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359</Words>
  <Application>Microsoft Office PowerPoint</Application>
  <PresentationFormat>Widescreen</PresentationFormat>
  <Paragraphs>32</Paragraphs>
  <Slides>8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Avenir Next LT Pro Light</vt:lpstr>
      <vt:lpstr>Calibri</vt:lpstr>
      <vt:lpstr>Söhne</vt:lpstr>
      <vt:lpstr>BlocksVTI</vt:lpstr>
      <vt:lpstr>Real Estate Market Predictive Analysis in the Philippines</vt:lpstr>
      <vt:lpstr>Problem Statement</vt:lpstr>
      <vt:lpstr>PowerPoint Presentation</vt:lpstr>
      <vt:lpstr>Price Distribution</vt:lpstr>
      <vt:lpstr>Key Influencers</vt:lpstr>
      <vt:lpstr>Accomplishment: R2 Scores &amp; Model Performance</vt:lpstr>
      <vt:lpstr>Insight: The Pivotal Role of Data</vt:lpstr>
      <vt:lpstr>Future Vision: Application of Advanced Analytical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Market  Predictive Analysis in the Philippines</dc:title>
  <dc:creator>LANCE ASHER M. ELLOSO</dc:creator>
  <cp:lastModifiedBy>LANCE ASHER M. ELLOSO</cp:lastModifiedBy>
  <cp:revision>6</cp:revision>
  <dcterms:created xsi:type="dcterms:W3CDTF">2023-11-17T13:59:02Z</dcterms:created>
  <dcterms:modified xsi:type="dcterms:W3CDTF">2023-11-17T14:48:38Z</dcterms:modified>
</cp:coreProperties>
</file>